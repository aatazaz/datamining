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18" y="-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A93DB7C-BE96-4327-9DBC-7B6F740E6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E6384BC5-B405-4818-A171-04D7956F58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TWITTER SENTIMENT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Classifying Tweets as Positive or Negative Using Machine Learning [Your Name] [Course: Data Mining] 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4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Project Overview &amp; Objectives </a:t>
            </a:r>
          </a:p>
          <a:p>
            <a:r>
              <a:rPr lang="en-US" dirty="0" smtClean="0"/>
              <a:t>2. Dataset Description </a:t>
            </a:r>
          </a:p>
          <a:p>
            <a:r>
              <a:rPr lang="en-US" dirty="0" smtClean="0"/>
              <a:t>3. Data Analysis &amp; Descriptive Statistics </a:t>
            </a:r>
          </a:p>
          <a:p>
            <a:r>
              <a:rPr lang="en-US" dirty="0" smtClean="0"/>
              <a:t>4. Data Preprocessing </a:t>
            </a:r>
          </a:p>
          <a:p>
            <a:r>
              <a:rPr lang="en-US" dirty="0" smtClean="0"/>
              <a:t>5. Feature Engineering </a:t>
            </a:r>
          </a:p>
          <a:p>
            <a:r>
              <a:rPr lang="en-US" dirty="0" smtClean="0"/>
              <a:t>6. Model Development </a:t>
            </a:r>
          </a:p>
          <a:p>
            <a:r>
              <a:rPr lang="en-US" dirty="0" smtClean="0"/>
              <a:t>7. Experimental Results </a:t>
            </a:r>
          </a:p>
          <a:p>
            <a:r>
              <a:rPr lang="en-US" dirty="0" smtClean="0"/>
              <a:t>8. Model Comparison </a:t>
            </a:r>
          </a:p>
          <a:p>
            <a:r>
              <a:rPr lang="en-US" dirty="0" smtClean="0"/>
              <a:t>9. Conclusion &amp; Future Work </a:t>
            </a:r>
          </a:p>
          <a:p>
            <a:r>
              <a:rPr lang="en-US" dirty="0" smtClean="0"/>
              <a:t>10. Demo /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Objective: Build a machine learning model to automatically classify tweets as</a:t>
            </a:r>
          </a:p>
          <a:p>
            <a:r>
              <a:rPr lang="en-US" dirty="0"/>
              <a:t>	</a:t>
            </a:r>
            <a:r>
              <a:rPr lang="en-US" dirty="0" smtClean="0"/>
              <a:t>		POSITIVE or NEGATIVE sentiment. </a:t>
            </a:r>
          </a:p>
          <a:p>
            <a:r>
              <a:rPr lang="en-US" dirty="0" smtClean="0"/>
              <a:t>Why It Matters: </a:t>
            </a:r>
          </a:p>
          <a:p>
            <a:pPr marL="0" indent="0">
              <a:buNone/>
            </a:pPr>
            <a:r>
              <a:rPr lang="en-US" dirty="0" smtClean="0"/>
              <a:t>• Brand monitoring and reputation management</a:t>
            </a:r>
          </a:p>
          <a:p>
            <a:pPr marL="0" indent="0">
              <a:buNone/>
            </a:pPr>
            <a:r>
              <a:rPr lang="en-US" dirty="0" smtClean="0"/>
              <a:t>• Customer feedback analysis </a:t>
            </a:r>
          </a:p>
          <a:p>
            <a:pPr marL="0" indent="0">
              <a:buNone/>
            </a:pPr>
            <a:r>
              <a:rPr lang="en-US" dirty="0" smtClean="0"/>
              <a:t>• Political opinion mining </a:t>
            </a:r>
          </a:p>
          <a:p>
            <a:pPr marL="0" indent="0">
              <a:buNone/>
            </a:pPr>
            <a:r>
              <a:rPr lang="en-US" dirty="0" smtClean="0"/>
              <a:t>• Stock market prediction using public sentiment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Approach: </a:t>
            </a:r>
          </a:p>
          <a:p>
            <a:pPr marL="0" indent="0">
              <a:buNone/>
            </a:pPr>
            <a:r>
              <a:rPr lang="en-US" dirty="0" smtClean="0"/>
              <a:t>Supervised binary classification using labeled Twitter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8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DATASET: SENTIMENT140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Source: </a:t>
            </a:r>
            <a:r>
              <a:rPr lang="en-US" dirty="0" err="1" smtClean="0"/>
              <a:t>Kaggle</a:t>
            </a:r>
            <a:r>
              <a:rPr lang="en-US" dirty="0" smtClean="0"/>
              <a:t> / Stanford University </a:t>
            </a:r>
          </a:p>
          <a:p>
            <a:r>
              <a:rPr lang="en-US" dirty="0" smtClean="0"/>
              <a:t>Citation: Go, A., </a:t>
            </a:r>
            <a:r>
              <a:rPr lang="en-US" dirty="0" err="1" smtClean="0"/>
              <a:t>Bhayani</a:t>
            </a:r>
            <a:r>
              <a:rPr lang="en-US" dirty="0" smtClean="0"/>
              <a:t>, R., &amp; Huang, L. (2009) Dataset Statistics: </a:t>
            </a:r>
          </a:p>
          <a:p>
            <a:r>
              <a:rPr lang="en-US" dirty="0" smtClean="0"/>
              <a:t>Total Tweets │ 1,600,000 │  </a:t>
            </a:r>
          </a:p>
          <a:p>
            <a:r>
              <a:rPr lang="en-US" dirty="0" smtClean="0"/>
              <a:t>Negative (0) │ 800,000 (50%) │  </a:t>
            </a:r>
          </a:p>
          <a:p>
            <a:r>
              <a:rPr lang="en-US" dirty="0" smtClean="0"/>
              <a:t>Positive (4) │ 800,000 (50%) │  </a:t>
            </a:r>
          </a:p>
          <a:p>
            <a:r>
              <a:rPr lang="en-US" dirty="0" smtClean="0"/>
              <a:t>Missing Values │ None │</a:t>
            </a:r>
          </a:p>
          <a:p>
            <a:endParaRPr lang="en-US" dirty="0" smtClean="0"/>
          </a:p>
          <a:p>
            <a:r>
              <a:rPr lang="en-US" dirty="0" smtClean="0"/>
              <a:t>Columns: </a:t>
            </a:r>
          </a:p>
          <a:p>
            <a:r>
              <a:rPr lang="en-US" dirty="0" smtClean="0"/>
              <a:t>sentiment - 0 = negative, 4 = positive </a:t>
            </a:r>
          </a:p>
          <a:p>
            <a:r>
              <a:rPr lang="en-US" dirty="0" smtClean="0"/>
              <a:t>id - Unique tweet identifier </a:t>
            </a:r>
          </a:p>
          <a:p>
            <a:r>
              <a:rPr lang="en-US" dirty="0" smtClean="0"/>
              <a:t>date - Date and time </a:t>
            </a:r>
          </a:p>
          <a:p>
            <a:r>
              <a:rPr lang="en-US" dirty="0" smtClean="0"/>
              <a:t>user - Username </a:t>
            </a:r>
          </a:p>
          <a:p>
            <a:r>
              <a:rPr lang="en-US" dirty="0" smtClean="0"/>
              <a:t>text - Tweet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0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Perfectly Balanced Dataset:</a:t>
            </a:r>
          </a:p>
          <a:p>
            <a:r>
              <a:rPr lang="en-US" dirty="0" smtClean="0"/>
              <a:t>Negative (0) 800,000 tweets.</a:t>
            </a:r>
          </a:p>
          <a:p>
            <a:r>
              <a:rPr lang="en-US" dirty="0" smtClean="0"/>
              <a:t>Positive (4) 800,000 tweets </a:t>
            </a:r>
          </a:p>
          <a:p>
            <a:r>
              <a:rPr lang="en-US" dirty="0" smtClean="0"/>
              <a:t>Key Insight: Balanced dataset prevents model bias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5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CLEANING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Original Tweet: </a:t>
            </a:r>
          </a:p>
          <a:p>
            <a:r>
              <a:rPr lang="en-US" dirty="0" smtClean="0"/>
              <a:t>"@user I LOVE this movie! It's amazing 😊 http://t.co/xyz" </a:t>
            </a:r>
          </a:p>
          <a:p>
            <a:r>
              <a:rPr lang="en-US" dirty="0" smtClean="0"/>
              <a:t>After Cleaning: </a:t>
            </a:r>
          </a:p>
          <a:p>
            <a:r>
              <a:rPr lang="en-US" dirty="0" smtClean="0"/>
              <a:t>"love movie amazing" </a:t>
            </a:r>
          </a:p>
          <a:p>
            <a:endParaRPr lang="en-US" dirty="0" smtClean="0"/>
          </a:p>
          <a:p>
            <a:r>
              <a:rPr lang="en-US" dirty="0" smtClean="0"/>
              <a:t>Cleaning Steps Applied:</a:t>
            </a:r>
            <a:endParaRPr lang="en-US" dirty="0"/>
          </a:p>
          <a:p>
            <a:r>
              <a:rPr lang="en-US" dirty="0" smtClean="0"/>
              <a:t>1. Lowercase conversion </a:t>
            </a:r>
          </a:p>
          <a:p>
            <a:r>
              <a:rPr lang="en-US" dirty="0" smtClean="0"/>
              <a:t>2. URL removal (http://, https://)</a:t>
            </a:r>
          </a:p>
          <a:p>
            <a:r>
              <a:rPr lang="en-US" dirty="0" smtClean="0"/>
              <a:t>3. @Mention removal</a:t>
            </a:r>
          </a:p>
          <a:p>
            <a:r>
              <a:rPr lang="en-US" dirty="0" smtClean="0"/>
              <a:t>4. Hashtag symbol removal</a:t>
            </a:r>
          </a:p>
          <a:p>
            <a:r>
              <a:rPr lang="en-US" dirty="0" smtClean="0"/>
              <a:t>5. Punctuation removal</a:t>
            </a:r>
          </a:p>
          <a:p>
            <a:r>
              <a:rPr lang="en-US" dirty="0" smtClean="0"/>
              <a:t>6. Number removal</a:t>
            </a:r>
          </a:p>
          <a:p>
            <a:r>
              <a:rPr lang="en-US" dirty="0" smtClean="0"/>
              <a:t>7. </a:t>
            </a:r>
            <a:r>
              <a:rPr lang="en-US" dirty="0" err="1" smtClean="0"/>
              <a:t>Stopword</a:t>
            </a:r>
            <a:r>
              <a:rPr lang="en-US" dirty="0" smtClean="0"/>
              <a:t> removal (the, and, is)</a:t>
            </a:r>
          </a:p>
          <a:p>
            <a:r>
              <a:rPr lang="en-US" dirty="0" smtClean="0"/>
              <a:t>8. Stemming (loving → love)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28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Feature Engineering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Term Frequency - Inverse Document Frequency </a:t>
            </a:r>
          </a:p>
          <a:p>
            <a:r>
              <a:rPr lang="en-US" dirty="0" smtClean="0"/>
              <a:t>TF-IDF(</a:t>
            </a:r>
            <a:r>
              <a:rPr lang="en-US" dirty="0" err="1" smtClean="0"/>
              <a:t>t,d</a:t>
            </a:r>
            <a:r>
              <a:rPr lang="en-US" dirty="0" smtClean="0"/>
              <a:t>) = TF(</a:t>
            </a:r>
            <a:r>
              <a:rPr lang="en-US" dirty="0" err="1" smtClean="0"/>
              <a:t>t,d</a:t>
            </a:r>
            <a:r>
              <a:rPr lang="en-US" dirty="0" smtClean="0"/>
              <a:t>) × log(N / DF(t)) </a:t>
            </a:r>
          </a:p>
          <a:p>
            <a:r>
              <a:rPr lang="en-US" dirty="0" smtClean="0"/>
              <a:t>Where: </a:t>
            </a:r>
          </a:p>
          <a:p>
            <a:r>
              <a:rPr lang="en-US" dirty="0" smtClean="0"/>
              <a:t>• TF(</a:t>
            </a:r>
            <a:r>
              <a:rPr lang="en-US" dirty="0" err="1" smtClean="0"/>
              <a:t>t,d</a:t>
            </a:r>
            <a:r>
              <a:rPr lang="en-US" dirty="0" smtClean="0"/>
              <a:t>) = Frequency of term t in document d</a:t>
            </a:r>
          </a:p>
          <a:p>
            <a:r>
              <a:rPr lang="en-US" dirty="0" smtClean="0"/>
              <a:t>• DF(t) = Number of documents containing term t </a:t>
            </a:r>
          </a:p>
          <a:p>
            <a:r>
              <a:rPr lang="en-US" dirty="0" smtClean="0"/>
              <a:t>• N = Total number of documents</a:t>
            </a:r>
          </a:p>
          <a:p>
            <a:pPr marL="0" indent="0">
              <a:buNone/>
            </a:pPr>
            <a:r>
              <a:rPr lang="en-US" dirty="0" smtClean="0"/>
              <a:t>Result: 5,000 features (TF-IDF) + 3,000 character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3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Models Tested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8 Different Models Were Implemented:</a:t>
            </a:r>
          </a:p>
          <a:p>
            <a:r>
              <a:rPr lang="en-US" dirty="0" smtClean="0"/>
              <a:t>1. Logistic Regression (Baseline) </a:t>
            </a:r>
          </a:p>
          <a:p>
            <a:r>
              <a:rPr lang="en-US" dirty="0" smtClean="0"/>
              <a:t>2. Multinomial Naive Bayes </a:t>
            </a:r>
          </a:p>
          <a:p>
            <a:r>
              <a:rPr lang="en-US" dirty="0" smtClean="0"/>
              <a:t>3. Random Forest (200 estimators) </a:t>
            </a:r>
          </a:p>
          <a:p>
            <a:r>
              <a:rPr lang="en-US" dirty="0" smtClean="0"/>
              <a:t>4. Gradient Boosting </a:t>
            </a:r>
          </a:p>
          <a:p>
            <a:r>
              <a:rPr lang="en-US" dirty="0" smtClean="0"/>
              <a:t>5. Linear SVM </a:t>
            </a:r>
          </a:p>
          <a:p>
            <a:r>
              <a:rPr lang="en-US" dirty="0" smtClean="0"/>
              <a:t>6. Logistic Regression (Char features) </a:t>
            </a:r>
          </a:p>
          <a:p>
            <a:r>
              <a:rPr lang="en-US" dirty="0" smtClean="0"/>
              <a:t>7. Logistic Regression (Combined) </a:t>
            </a:r>
          </a:p>
          <a:p>
            <a:r>
              <a:rPr lang="en-US" dirty="0" smtClean="0"/>
              <a:t>8. Ensemble Voting Classifier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Model Performance Results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ACCURACY COMPARISON</a:t>
            </a:r>
          </a:p>
          <a:p>
            <a:r>
              <a:rPr lang="en-US" dirty="0" smtClean="0"/>
              <a:t>1. Training Logistic Regression... Accuracy: 0.7569</a:t>
            </a:r>
          </a:p>
          <a:p>
            <a:r>
              <a:rPr lang="en-US" dirty="0" smtClean="0"/>
              <a:t>2. Training Naive Bayes... Accuracy: 0.7417 </a:t>
            </a:r>
          </a:p>
          <a:p>
            <a:r>
              <a:rPr lang="en-US" dirty="0" smtClean="0"/>
              <a:t>3.Training Random Forest... Accuracy: 0.7263 </a:t>
            </a:r>
          </a:p>
          <a:p>
            <a:r>
              <a:rPr lang="en-US" dirty="0" smtClean="0"/>
              <a:t>4. Training Gradient Boosting... Accuracy: 0.7069</a:t>
            </a:r>
          </a:p>
          <a:p>
            <a:r>
              <a:rPr lang="en-US" dirty="0" smtClean="0"/>
              <a:t>5. Training Linear SVM... Accuracy: 0.7523 </a:t>
            </a:r>
          </a:p>
          <a:p>
            <a:r>
              <a:rPr lang="en-US" dirty="0" smtClean="0"/>
              <a:t>6. </a:t>
            </a:r>
            <a:r>
              <a:rPr lang="en-US" dirty="0" smtClean="0"/>
              <a:t>Training Ensemble Voting Classifier... Accuracy: 0.7561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94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Best Model - Confusion Matrix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 MODEL: LOGISTIC REGRESSION (TUNED)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24000"/>
            <a:ext cx="3764404" cy="3540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06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ROC CURVES - MODEL COMPARISON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0" y="1524000"/>
            <a:ext cx="4193265" cy="3474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283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Sample Predictions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Tweet: I absolutely love this! It's the best thing ever made Sentiment: POSITIVE 😊 Confidence: 82.70% Polarity Score: 0.654 (-1=negative, +1=positive)</a:t>
            </a:r>
          </a:p>
          <a:p>
            <a:endParaRPr lang="en-US" dirty="0" smtClean="0"/>
          </a:p>
          <a:p>
            <a:r>
              <a:rPr lang="en-US" dirty="0" smtClean="0"/>
              <a:t>Tweet: This is horrible. I hate everything about it Sentiment: NEGATIVE 😞 Confidence: 98.45% Polarity Score: -0.969 (-1=negative, +1=positive)</a:t>
            </a:r>
          </a:p>
          <a:p>
            <a:endParaRPr lang="en-US" dirty="0" smtClean="0"/>
          </a:p>
          <a:p>
            <a:r>
              <a:rPr lang="en-US" dirty="0" smtClean="0"/>
              <a:t>Tweet: What a wonderful amazing fantastic beautiful day Sentiment: POSITIVE 😊 Confidence: 96.02% Polarity Score: 0.920 (-1=negative, +1=positive)</a:t>
            </a:r>
          </a:p>
          <a:p>
            <a:endParaRPr lang="en-US" dirty="0" smtClean="0"/>
          </a:p>
          <a:p>
            <a:r>
              <a:rPr lang="en-US" dirty="0" smtClean="0"/>
              <a:t>Tweet: I'm so frustrated and angry right now, nothing works Sentiment: NEGATIVE 😞 Confidence: 92.24% Polarity Score: -0.845 (-1=negative, +1=positive)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96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&amp;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Logistic Regression outperformed all other models </a:t>
            </a:r>
          </a:p>
          <a:p>
            <a:r>
              <a:rPr lang="en-US" dirty="0" smtClean="0"/>
              <a:t>• Simple linear model works best for text classification </a:t>
            </a:r>
          </a:p>
          <a:p>
            <a:r>
              <a:rPr lang="en-US" dirty="0" smtClean="0"/>
              <a:t>• Accuracy: 75.77% | ROC-AUC: 0.834 2. </a:t>
            </a:r>
          </a:p>
          <a:p>
            <a:r>
              <a:rPr lang="en-US" dirty="0" smtClean="0"/>
              <a:t>Emotional words are strongest predictors </a:t>
            </a:r>
          </a:p>
          <a:p>
            <a:r>
              <a:rPr lang="en-US" dirty="0" smtClean="0"/>
              <a:t>• "love", "great", "amazing" → Positive </a:t>
            </a:r>
          </a:p>
          <a:p>
            <a:r>
              <a:rPr lang="en-US" dirty="0" smtClean="0"/>
              <a:t>• "hate", "sad", "terrible" → Negative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17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&amp;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• Sarcasm detection is difficult </a:t>
            </a:r>
          </a:p>
          <a:p>
            <a:r>
              <a:rPr lang="en-US" dirty="0" smtClean="0"/>
              <a:t>• Context-dependent words ("sick" = cool OR ill) </a:t>
            </a:r>
          </a:p>
          <a:p>
            <a:r>
              <a:rPr lang="en-US" dirty="0" smtClean="0"/>
              <a:t>• </a:t>
            </a:r>
            <a:r>
              <a:rPr lang="en-US" dirty="0" err="1" smtClean="0"/>
              <a:t>Emojis</a:t>
            </a:r>
            <a:r>
              <a:rPr lang="en-US" dirty="0" smtClean="0"/>
              <a:t> are currently removed </a:t>
            </a:r>
          </a:p>
          <a:p>
            <a:r>
              <a:rPr lang="en-US" dirty="0" smtClean="0"/>
              <a:t>• English language only  </a:t>
            </a:r>
          </a:p>
          <a:p>
            <a:r>
              <a:rPr lang="en-US" dirty="0" smtClean="0"/>
              <a:t>• Neutral tweets misclassified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98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Improvements: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• Add emoji/emoticon processing </a:t>
            </a:r>
          </a:p>
          <a:p>
            <a:r>
              <a:rPr lang="en-US" dirty="0" smtClean="0"/>
              <a:t>• Implement LSTM/Transformer models</a:t>
            </a:r>
          </a:p>
          <a:p>
            <a:r>
              <a:rPr lang="en-US" dirty="0" smtClean="0"/>
              <a:t>• Multi-lingual support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6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57400"/>
            <a:ext cx="7520940" cy="2623077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4816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162</TotalTime>
  <Words>708</Words>
  <Application>Microsoft Office PowerPoint</Application>
  <PresentationFormat>On-screen Show (4:3)</PresentationFormat>
  <Paragraphs>113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Angles</vt:lpstr>
      <vt:lpstr>TWITTER SENTIMENT ANALYSIS</vt:lpstr>
      <vt:lpstr>PRESENTATION OUTLINE</vt:lpstr>
      <vt:lpstr>PROJECT OVERVIEW</vt:lpstr>
      <vt:lpstr>DATASET: SENTIMENT140</vt:lpstr>
      <vt:lpstr>CLASS DISTRIBUTION</vt:lpstr>
      <vt:lpstr>TEXT CLEANING PIPELINE</vt:lpstr>
      <vt:lpstr>Feature Engineering </vt:lpstr>
      <vt:lpstr>Models Tested </vt:lpstr>
      <vt:lpstr>Model Performance Results </vt:lpstr>
      <vt:lpstr>Best Model - Confusion Matrix</vt:lpstr>
      <vt:lpstr>ROC CURVES - MODEL COMPARISON</vt:lpstr>
      <vt:lpstr>Sample Predictions </vt:lpstr>
      <vt:lpstr>KEY FINDINGS &amp; INSIGHTS</vt:lpstr>
      <vt:lpstr>CHALLENGES &amp; LIMITATIONS</vt:lpstr>
      <vt:lpstr>Future Improvements: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SENTIMENT ANALYSIS</dc:title>
  <dc:creator>Dell</dc:creator>
  <cp:lastModifiedBy>Dell</cp:lastModifiedBy>
  <cp:revision>5</cp:revision>
  <dcterms:created xsi:type="dcterms:W3CDTF">2026-04-17T09:01:07Z</dcterms:created>
  <dcterms:modified xsi:type="dcterms:W3CDTF">2026-04-18T10:23:00Z</dcterms:modified>
</cp:coreProperties>
</file>