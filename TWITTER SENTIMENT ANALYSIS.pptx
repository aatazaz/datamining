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1" d="100"/>
          <a:sy n="81" d="100"/>
        </p:scale>
        <p:origin x="-1433" y="-5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/>
          <p:cNvSpPr/>
          <p:nvPr/>
        </p:nvSpPr>
        <p:spPr>
          <a:xfrm>
            <a:off x="0" y="2647950"/>
            <a:ext cx="3571875" cy="421005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-2380" y="-925"/>
            <a:ext cx="9146380" cy="6858925"/>
          </a:xfrm>
          <a:custGeom>
            <a:avLst/>
            <a:gdLst>
              <a:gd name="connsiteX0" fmla="*/ 0 w 3350419"/>
              <a:gd name="connsiteY0" fmla="*/ 2081213 h 2083594"/>
              <a:gd name="connsiteX1" fmla="*/ 3031331 w 3350419"/>
              <a:gd name="connsiteY1" fmla="*/ 0 h 2083594"/>
              <a:gd name="connsiteX2" fmla="*/ 3350419 w 3350419"/>
              <a:gd name="connsiteY2" fmla="*/ 80963 h 2083594"/>
              <a:gd name="connsiteX3" fmla="*/ 3350419 w 3350419"/>
              <a:gd name="connsiteY3" fmla="*/ 2083594 h 2083594"/>
              <a:gd name="connsiteX4" fmla="*/ 0 w 3350419"/>
              <a:gd name="connsiteY4" fmla="*/ 2081213 h 2083594"/>
              <a:gd name="connsiteX0" fmla="*/ 0 w 3112294"/>
              <a:gd name="connsiteY0" fmla="*/ 2019301 h 2083594"/>
              <a:gd name="connsiteX1" fmla="*/ 2793206 w 3112294"/>
              <a:gd name="connsiteY1" fmla="*/ 0 h 2083594"/>
              <a:gd name="connsiteX2" fmla="*/ 3112294 w 3112294"/>
              <a:gd name="connsiteY2" fmla="*/ 80963 h 2083594"/>
              <a:gd name="connsiteX3" fmla="*/ 3112294 w 3112294"/>
              <a:gd name="connsiteY3" fmla="*/ 2083594 h 2083594"/>
              <a:gd name="connsiteX4" fmla="*/ 0 w 3112294"/>
              <a:gd name="connsiteY4" fmla="*/ 2019301 h 2083594"/>
              <a:gd name="connsiteX0" fmla="*/ 0 w 3345656"/>
              <a:gd name="connsiteY0" fmla="*/ 2097882 h 2097882"/>
              <a:gd name="connsiteX1" fmla="*/ 3026568 w 3345656"/>
              <a:gd name="connsiteY1" fmla="*/ 0 h 2097882"/>
              <a:gd name="connsiteX2" fmla="*/ 3345656 w 3345656"/>
              <a:gd name="connsiteY2" fmla="*/ 80963 h 2097882"/>
              <a:gd name="connsiteX3" fmla="*/ 3345656 w 3345656"/>
              <a:gd name="connsiteY3" fmla="*/ 2083594 h 2097882"/>
              <a:gd name="connsiteX4" fmla="*/ 0 w 3345656"/>
              <a:gd name="connsiteY4" fmla="*/ 2097882 h 2097882"/>
              <a:gd name="connsiteX0" fmla="*/ 0 w 2800350"/>
              <a:gd name="connsiteY0" fmla="*/ 1935957 h 2083594"/>
              <a:gd name="connsiteX1" fmla="*/ 2481262 w 2800350"/>
              <a:gd name="connsiteY1" fmla="*/ 0 h 2083594"/>
              <a:gd name="connsiteX2" fmla="*/ 2800350 w 2800350"/>
              <a:gd name="connsiteY2" fmla="*/ 80963 h 2083594"/>
              <a:gd name="connsiteX3" fmla="*/ 2800350 w 2800350"/>
              <a:gd name="connsiteY3" fmla="*/ 2083594 h 2083594"/>
              <a:gd name="connsiteX4" fmla="*/ 0 w 2800350"/>
              <a:gd name="connsiteY4" fmla="*/ 1935957 h 2083594"/>
              <a:gd name="connsiteX0" fmla="*/ 0 w 3352800"/>
              <a:gd name="connsiteY0" fmla="*/ 2083594 h 2083594"/>
              <a:gd name="connsiteX1" fmla="*/ 3033712 w 3352800"/>
              <a:gd name="connsiteY1" fmla="*/ 0 h 2083594"/>
              <a:gd name="connsiteX2" fmla="*/ 3352800 w 3352800"/>
              <a:gd name="connsiteY2" fmla="*/ 80963 h 2083594"/>
              <a:gd name="connsiteX3" fmla="*/ 3352800 w 3352800"/>
              <a:gd name="connsiteY3" fmla="*/ 2083594 h 2083594"/>
              <a:gd name="connsiteX4" fmla="*/ 0 w 3352800"/>
              <a:gd name="connsiteY4" fmla="*/ 2083594 h 2083594"/>
              <a:gd name="connsiteX0" fmla="*/ 0 w 3352800"/>
              <a:gd name="connsiteY0" fmla="*/ 2002631 h 2002631"/>
              <a:gd name="connsiteX1" fmla="*/ 3033712 w 3352800"/>
              <a:gd name="connsiteY1" fmla="*/ 15716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988469 w 3352800"/>
              <a:gd name="connsiteY1" fmla="*/ 59530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3966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45314 w 3352800"/>
              <a:gd name="connsiteY1" fmla="*/ 12246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4839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75865 w 3352800"/>
              <a:gd name="connsiteY1" fmla="*/ 8178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901 h 2002901"/>
              <a:gd name="connsiteX1" fmla="*/ 2836585 w 3352800"/>
              <a:gd name="connsiteY1" fmla="*/ 0 h 2002901"/>
              <a:gd name="connsiteX2" fmla="*/ 3352800 w 3352800"/>
              <a:gd name="connsiteY2" fmla="*/ 270 h 2002901"/>
              <a:gd name="connsiteX3" fmla="*/ 3352800 w 3352800"/>
              <a:gd name="connsiteY3" fmla="*/ 2002901 h 2002901"/>
              <a:gd name="connsiteX4" fmla="*/ 0 w 3352800"/>
              <a:gd name="connsiteY4" fmla="*/ 2002901 h 2002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52800" h="2002901">
                <a:moveTo>
                  <a:pt x="0" y="2002901"/>
                </a:moveTo>
                <a:lnTo>
                  <a:pt x="2836585" y="0"/>
                </a:lnTo>
                <a:lnTo>
                  <a:pt x="3352800" y="270"/>
                </a:lnTo>
                <a:lnTo>
                  <a:pt x="3352800" y="2002901"/>
                </a:lnTo>
                <a:lnTo>
                  <a:pt x="0" y="2002901"/>
                </a:lnTo>
                <a:close/>
              </a:path>
            </a:pathLst>
          </a:cu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19140000">
            <a:off x="817112" y="1730403"/>
            <a:ext cx="5648623" cy="1204306"/>
          </a:xfrm>
        </p:spPr>
        <p:txBody>
          <a:bodyPr bIns="9144"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19140000">
            <a:off x="1212277" y="2470925"/>
            <a:ext cx="6511131" cy="329259"/>
          </a:xfrm>
        </p:spPr>
        <p:txBody>
          <a:bodyPr tIns="9144">
            <a:normAutofit/>
          </a:bodyPr>
          <a:lstStyle>
            <a:lvl1pPr marL="0" indent="0" algn="l">
              <a:buNone/>
              <a:defRPr kumimoji="0" lang="en-US" sz="1400" b="0" i="0" u="none" strike="noStrike" kern="1200" cap="all" spc="40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j-ea"/>
                <a:cs typeface="Tunga" pitchFamily="2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 pitchFamily="34" charset="0"/>
              <a:buNone/>
              <a:tabLst/>
              <a:defRPr/>
            </a:pPr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3DB7C-BE96-4327-9DBC-7B6F740E6E7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4BC5-B405-4818-A171-04D7956F586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3DB7C-BE96-4327-9DBC-7B6F740E6E7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4BC5-B405-4818-A171-04D7956F586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/>
          <p:cNvSpPr/>
          <p:nvPr/>
        </p:nvSpPr>
        <p:spPr>
          <a:xfrm>
            <a:off x="-2380" y="-925"/>
            <a:ext cx="9146380" cy="6858925"/>
          </a:xfrm>
          <a:custGeom>
            <a:avLst/>
            <a:gdLst>
              <a:gd name="connsiteX0" fmla="*/ 0 w 3350419"/>
              <a:gd name="connsiteY0" fmla="*/ 2081213 h 2083594"/>
              <a:gd name="connsiteX1" fmla="*/ 3031331 w 3350419"/>
              <a:gd name="connsiteY1" fmla="*/ 0 h 2083594"/>
              <a:gd name="connsiteX2" fmla="*/ 3350419 w 3350419"/>
              <a:gd name="connsiteY2" fmla="*/ 80963 h 2083594"/>
              <a:gd name="connsiteX3" fmla="*/ 3350419 w 3350419"/>
              <a:gd name="connsiteY3" fmla="*/ 2083594 h 2083594"/>
              <a:gd name="connsiteX4" fmla="*/ 0 w 3350419"/>
              <a:gd name="connsiteY4" fmla="*/ 2081213 h 2083594"/>
              <a:gd name="connsiteX0" fmla="*/ 0 w 3112294"/>
              <a:gd name="connsiteY0" fmla="*/ 2019301 h 2083594"/>
              <a:gd name="connsiteX1" fmla="*/ 2793206 w 3112294"/>
              <a:gd name="connsiteY1" fmla="*/ 0 h 2083594"/>
              <a:gd name="connsiteX2" fmla="*/ 3112294 w 3112294"/>
              <a:gd name="connsiteY2" fmla="*/ 80963 h 2083594"/>
              <a:gd name="connsiteX3" fmla="*/ 3112294 w 3112294"/>
              <a:gd name="connsiteY3" fmla="*/ 2083594 h 2083594"/>
              <a:gd name="connsiteX4" fmla="*/ 0 w 3112294"/>
              <a:gd name="connsiteY4" fmla="*/ 2019301 h 2083594"/>
              <a:gd name="connsiteX0" fmla="*/ 0 w 3345656"/>
              <a:gd name="connsiteY0" fmla="*/ 2097882 h 2097882"/>
              <a:gd name="connsiteX1" fmla="*/ 3026568 w 3345656"/>
              <a:gd name="connsiteY1" fmla="*/ 0 h 2097882"/>
              <a:gd name="connsiteX2" fmla="*/ 3345656 w 3345656"/>
              <a:gd name="connsiteY2" fmla="*/ 80963 h 2097882"/>
              <a:gd name="connsiteX3" fmla="*/ 3345656 w 3345656"/>
              <a:gd name="connsiteY3" fmla="*/ 2083594 h 2097882"/>
              <a:gd name="connsiteX4" fmla="*/ 0 w 3345656"/>
              <a:gd name="connsiteY4" fmla="*/ 2097882 h 2097882"/>
              <a:gd name="connsiteX0" fmla="*/ 0 w 2800350"/>
              <a:gd name="connsiteY0" fmla="*/ 1935957 h 2083594"/>
              <a:gd name="connsiteX1" fmla="*/ 2481262 w 2800350"/>
              <a:gd name="connsiteY1" fmla="*/ 0 h 2083594"/>
              <a:gd name="connsiteX2" fmla="*/ 2800350 w 2800350"/>
              <a:gd name="connsiteY2" fmla="*/ 80963 h 2083594"/>
              <a:gd name="connsiteX3" fmla="*/ 2800350 w 2800350"/>
              <a:gd name="connsiteY3" fmla="*/ 2083594 h 2083594"/>
              <a:gd name="connsiteX4" fmla="*/ 0 w 2800350"/>
              <a:gd name="connsiteY4" fmla="*/ 1935957 h 2083594"/>
              <a:gd name="connsiteX0" fmla="*/ 0 w 3352800"/>
              <a:gd name="connsiteY0" fmla="*/ 2083594 h 2083594"/>
              <a:gd name="connsiteX1" fmla="*/ 3033712 w 3352800"/>
              <a:gd name="connsiteY1" fmla="*/ 0 h 2083594"/>
              <a:gd name="connsiteX2" fmla="*/ 3352800 w 3352800"/>
              <a:gd name="connsiteY2" fmla="*/ 80963 h 2083594"/>
              <a:gd name="connsiteX3" fmla="*/ 3352800 w 3352800"/>
              <a:gd name="connsiteY3" fmla="*/ 2083594 h 2083594"/>
              <a:gd name="connsiteX4" fmla="*/ 0 w 3352800"/>
              <a:gd name="connsiteY4" fmla="*/ 2083594 h 2083594"/>
              <a:gd name="connsiteX0" fmla="*/ 0 w 3352800"/>
              <a:gd name="connsiteY0" fmla="*/ 2002631 h 2002631"/>
              <a:gd name="connsiteX1" fmla="*/ 3033712 w 3352800"/>
              <a:gd name="connsiteY1" fmla="*/ 15716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988469 w 3352800"/>
              <a:gd name="connsiteY1" fmla="*/ 59530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3966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45314 w 3352800"/>
              <a:gd name="connsiteY1" fmla="*/ 12246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4839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75865 w 3352800"/>
              <a:gd name="connsiteY1" fmla="*/ 8178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901 h 2002901"/>
              <a:gd name="connsiteX1" fmla="*/ 2836585 w 3352800"/>
              <a:gd name="connsiteY1" fmla="*/ 0 h 2002901"/>
              <a:gd name="connsiteX2" fmla="*/ 3352800 w 3352800"/>
              <a:gd name="connsiteY2" fmla="*/ 270 h 2002901"/>
              <a:gd name="connsiteX3" fmla="*/ 3352800 w 3352800"/>
              <a:gd name="connsiteY3" fmla="*/ 2002901 h 2002901"/>
              <a:gd name="connsiteX4" fmla="*/ 0 w 3352800"/>
              <a:gd name="connsiteY4" fmla="*/ 2002901 h 2002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52800" h="2002901">
                <a:moveTo>
                  <a:pt x="0" y="2002901"/>
                </a:moveTo>
                <a:lnTo>
                  <a:pt x="2836585" y="0"/>
                </a:lnTo>
                <a:lnTo>
                  <a:pt x="3352800" y="270"/>
                </a:lnTo>
                <a:lnTo>
                  <a:pt x="3352800" y="2002901"/>
                </a:lnTo>
                <a:lnTo>
                  <a:pt x="0" y="20029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/>
          <p:cNvSpPr/>
          <p:nvPr/>
        </p:nvSpPr>
        <p:spPr>
          <a:xfrm>
            <a:off x="0" y="2647950"/>
            <a:ext cx="3571875" cy="4210050"/>
          </a:xfrm>
          <a:prstGeom prst="rtTriangl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19140000">
            <a:off x="819399" y="1726737"/>
            <a:ext cx="5650992" cy="1207509"/>
          </a:xfrm>
        </p:spPr>
        <p:txBody>
          <a:bodyPr bIns="9144" anchor="b"/>
          <a:lstStyle>
            <a:lvl1pPr algn="l">
              <a:defRPr kumimoji="0" lang="en-US" sz="3200" b="0" i="0" u="none" strike="noStrike" kern="1200" cap="all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 rot="19140000">
            <a:off x="1216152" y="2468304"/>
            <a:ext cx="6510528" cy="329184"/>
          </a:xfrm>
        </p:spPr>
        <p:txBody>
          <a:bodyPr anchor="t">
            <a:normAutofit/>
          </a:bodyPr>
          <a:lstStyle>
            <a:lvl1pPr marL="0" indent="0">
              <a:buNone/>
              <a:defRPr kumimoji="0" lang="en-US" sz="1400" b="0" i="0" u="none" strike="noStrike" kern="1200" cap="all" spc="40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j-ea"/>
                <a:cs typeface="Tunga" pitchFamily="2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 pitchFamily="34" charset="0"/>
              <a:buNone/>
              <a:tabLst/>
              <a:defRPr/>
            </a:pPr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3DB7C-BE96-4327-9DBC-7B6F740E6E7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4BC5-B405-4818-A171-04D7956F586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097280"/>
            <a:ext cx="3200400" cy="371246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0016" y="1097280"/>
            <a:ext cx="3200400" cy="371246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3DB7C-BE96-4327-9DBC-7B6F740E6E7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4BC5-B405-4818-A171-04D7956F586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097280"/>
            <a:ext cx="3200400" cy="548640"/>
          </a:xfrm>
        </p:spPr>
        <p:txBody>
          <a:bodyPr anchor="b">
            <a:normAutofit/>
          </a:bodyPr>
          <a:lstStyle>
            <a:lvl1pPr marL="0" indent="0">
              <a:buNone/>
              <a:defRPr lang="en-US" sz="1400" b="0" kern="1200" cap="all" spc="400" baseline="0" dirty="0" smtClean="0">
                <a:solidFill>
                  <a:schemeClr val="tx1"/>
                </a:solidFill>
                <a:latin typeface="+mn-lt"/>
                <a:ea typeface="+mj-ea"/>
                <a:cs typeface="Tunga" pitchFamily="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itchFamily="34" charset="0"/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9150" y="1701848"/>
            <a:ext cx="3200400" cy="310896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00016" y="1097280"/>
            <a:ext cx="3200400" cy="548640"/>
          </a:xfrm>
        </p:spPr>
        <p:txBody>
          <a:bodyPr anchor="b">
            <a:normAutofit/>
          </a:bodyPr>
          <a:lstStyle>
            <a:lvl1pPr marL="0" indent="0">
              <a:buNone/>
              <a:defRPr lang="en-US" sz="1400" b="0" kern="1200" cap="all" spc="400" baseline="0" dirty="0" smtClean="0">
                <a:solidFill>
                  <a:schemeClr val="tx1"/>
                </a:solidFill>
                <a:latin typeface="+mn-lt"/>
                <a:ea typeface="+mj-ea"/>
                <a:cs typeface="Tunga" pitchFamily="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itchFamily="34" charset="0"/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00016" y="1701848"/>
            <a:ext cx="3200400" cy="310896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3DB7C-BE96-4327-9DBC-7B6F740E6E7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4BC5-B405-4818-A171-04D7956F586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3DB7C-BE96-4327-9DBC-7B6F740E6E7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4BC5-B405-4818-A171-04D7956F586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3DB7C-BE96-4327-9DBC-7B6F740E6E7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4BC5-B405-4818-A171-04D7956F586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ight Triangle 16"/>
          <p:cNvSpPr/>
          <p:nvPr/>
        </p:nvSpPr>
        <p:spPr>
          <a:xfrm>
            <a:off x="0" y="2647950"/>
            <a:ext cx="3571875" cy="421005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Triangle 17"/>
          <p:cNvSpPr/>
          <p:nvPr/>
        </p:nvSpPr>
        <p:spPr>
          <a:xfrm rot="5400000">
            <a:off x="433389" y="-433387"/>
            <a:ext cx="6858000" cy="7724778"/>
          </a:xfrm>
          <a:prstGeom prst="rtTriangl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sz="1800" kern="120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19140000">
            <a:off x="784930" y="1576103"/>
            <a:ext cx="5212080" cy="1089427"/>
          </a:xfrm>
        </p:spPr>
        <p:txBody>
          <a:bodyPr bIns="0" anchor="b"/>
          <a:lstStyle>
            <a:lvl1pPr algn="l">
              <a:defRPr kumimoji="0" lang="en-US" sz="2800" b="0" i="0" u="none" strike="noStrike" kern="1200" cap="all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9552" y="2618912"/>
            <a:ext cx="3807779" cy="332468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 rot="19140000">
            <a:off x="1297954" y="2253385"/>
            <a:ext cx="5794760" cy="623314"/>
          </a:xfrm>
        </p:spPr>
        <p:txBody>
          <a:bodyPr>
            <a:normAutofit/>
          </a:bodyPr>
          <a:lstStyle>
            <a:lvl1pPr marL="0" indent="0">
              <a:buNone/>
              <a:defRPr lang="en-US" sz="1400" b="1" kern="120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 pitchFamily="34" charset="0"/>
              <a:buNone/>
              <a:tabLst/>
              <a:defRPr/>
            </a:pPr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3DB7C-BE96-4327-9DBC-7B6F740E6E7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solidFill>
              <a:schemeClr val="tx2"/>
            </a:solidFill>
          </a:ln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6384BC5-B405-4818-A171-04D7956F586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/>
          <p:cNvSpPr>
            <a:spLocks noGrp="1"/>
          </p:cNvSpPr>
          <p:nvPr>
            <p:ph type="pic" sz="quarter" idx="14"/>
          </p:nvPr>
        </p:nvSpPr>
        <p:spPr>
          <a:xfrm>
            <a:off x="2028825" y="0"/>
            <a:ext cx="7115175" cy="6858000"/>
          </a:xfrm>
          <a:custGeom>
            <a:avLst/>
            <a:gdLst>
              <a:gd name="connsiteX0" fmla="*/ 0 w 7104888"/>
              <a:gd name="connsiteY0" fmla="*/ 0 h 6858000"/>
              <a:gd name="connsiteX1" fmla="*/ 7104888 w 7104888"/>
              <a:gd name="connsiteY1" fmla="*/ 0 h 6858000"/>
              <a:gd name="connsiteX2" fmla="*/ 7104888 w 7104888"/>
              <a:gd name="connsiteY2" fmla="*/ 6858000 h 6858000"/>
              <a:gd name="connsiteX3" fmla="*/ 0 w 7104888"/>
              <a:gd name="connsiteY3" fmla="*/ 6858000 h 6858000"/>
              <a:gd name="connsiteX4" fmla="*/ 0 w 7104888"/>
              <a:gd name="connsiteY4" fmla="*/ 0 h 6858000"/>
              <a:gd name="connsiteX0" fmla="*/ 0 w 7104888"/>
              <a:gd name="connsiteY0" fmla="*/ 0 h 6858000"/>
              <a:gd name="connsiteX1" fmla="*/ 5695188 w 7104888"/>
              <a:gd name="connsiteY1" fmla="*/ 0 h 6858000"/>
              <a:gd name="connsiteX2" fmla="*/ 7104888 w 7104888"/>
              <a:gd name="connsiteY2" fmla="*/ 0 h 6858000"/>
              <a:gd name="connsiteX3" fmla="*/ 7104888 w 7104888"/>
              <a:gd name="connsiteY3" fmla="*/ 6858000 h 6858000"/>
              <a:gd name="connsiteX4" fmla="*/ 0 w 7104888"/>
              <a:gd name="connsiteY4" fmla="*/ 6858000 h 6858000"/>
              <a:gd name="connsiteX5" fmla="*/ 0 w 7104888"/>
              <a:gd name="connsiteY5" fmla="*/ 0 h 6858000"/>
              <a:gd name="connsiteX0" fmla="*/ 10287 w 7115175"/>
              <a:gd name="connsiteY0" fmla="*/ 0 h 6858000"/>
              <a:gd name="connsiteX1" fmla="*/ 5705475 w 7115175"/>
              <a:gd name="connsiteY1" fmla="*/ 0 h 6858000"/>
              <a:gd name="connsiteX2" fmla="*/ 7115175 w 7115175"/>
              <a:gd name="connsiteY2" fmla="*/ 0 h 6858000"/>
              <a:gd name="connsiteX3" fmla="*/ 7115175 w 7115175"/>
              <a:gd name="connsiteY3" fmla="*/ 6858000 h 6858000"/>
              <a:gd name="connsiteX4" fmla="*/ 10287 w 7115175"/>
              <a:gd name="connsiteY4" fmla="*/ 6858000 h 6858000"/>
              <a:gd name="connsiteX5" fmla="*/ 0 w 7115175"/>
              <a:gd name="connsiteY5" fmla="*/ 5048250 h 6858000"/>
              <a:gd name="connsiteX6" fmla="*/ 10287 w 7115175"/>
              <a:gd name="connsiteY6" fmla="*/ 0 h 6858000"/>
              <a:gd name="connsiteX0" fmla="*/ 10287 w 7115175"/>
              <a:gd name="connsiteY0" fmla="*/ 0 h 6858000"/>
              <a:gd name="connsiteX1" fmla="*/ 5705475 w 7115175"/>
              <a:gd name="connsiteY1" fmla="*/ 0 h 6858000"/>
              <a:gd name="connsiteX2" fmla="*/ 7115175 w 7115175"/>
              <a:gd name="connsiteY2" fmla="*/ 0 h 6858000"/>
              <a:gd name="connsiteX3" fmla="*/ 7115175 w 7115175"/>
              <a:gd name="connsiteY3" fmla="*/ 6858000 h 6858000"/>
              <a:gd name="connsiteX4" fmla="*/ 1533526 w 7115175"/>
              <a:gd name="connsiteY4" fmla="*/ 6848475 h 6858000"/>
              <a:gd name="connsiteX5" fmla="*/ 10287 w 7115175"/>
              <a:gd name="connsiteY5" fmla="*/ 6858000 h 6858000"/>
              <a:gd name="connsiteX6" fmla="*/ 0 w 7115175"/>
              <a:gd name="connsiteY6" fmla="*/ 5048250 h 6858000"/>
              <a:gd name="connsiteX7" fmla="*/ 10287 w 7115175"/>
              <a:gd name="connsiteY7" fmla="*/ 0 h 6858000"/>
              <a:gd name="connsiteX0" fmla="*/ 10287 w 7115175"/>
              <a:gd name="connsiteY0" fmla="*/ 0 h 6858000"/>
              <a:gd name="connsiteX1" fmla="*/ 5705475 w 7115175"/>
              <a:gd name="connsiteY1" fmla="*/ 0 h 6858000"/>
              <a:gd name="connsiteX2" fmla="*/ 7115175 w 7115175"/>
              <a:gd name="connsiteY2" fmla="*/ 0 h 6858000"/>
              <a:gd name="connsiteX3" fmla="*/ 7115175 w 7115175"/>
              <a:gd name="connsiteY3" fmla="*/ 6858000 h 6858000"/>
              <a:gd name="connsiteX4" fmla="*/ 1533526 w 7115175"/>
              <a:gd name="connsiteY4" fmla="*/ 6848475 h 6858000"/>
              <a:gd name="connsiteX5" fmla="*/ 0 w 7115175"/>
              <a:gd name="connsiteY5" fmla="*/ 5048250 h 6858000"/>
              <a:gd name="connsiteX6" fmla="*/ 10287 w 7115175"/>
              <a:gd name="connsiteY6" fmla="*/ 0 h 6858000"/>
              <a:gd name="connsiteX0" fmla="*/ 0 w 7115175"/>
              <a:gd name="connsiteY0" fmla="*/ 5048250 h 6858000"/>
              <a:gd name="connsiteX1" fmla="*/ 5705475 w 7115175"/>
              <a:gd name="connsiteY1" fmla="*/ 0 h 6858000"/>
              <a:gd name="connsiteX2" fmla="*/ 7115175 w 7115175"/>
              <a:gd name="connsiteY2" fmla="*/ 0 h 6858000"/>
              <a:gd name="connsiteX3" fmla="*/ 7115175 w 7115175"/>
              <a:gd name="connsiteY3" fmla="*/ 6858000 h 6858000"/>
              <a:gd name="connsiteX4" fmla="*/ 1533526 w 7115175"/>
              <a:gd name="connsiteY4" fmla="*/ 6848475 h 6858000"/>
              <a:gd name="connsiteX5" fmla="*/ 0 w 7115175"/>
              <a:gd name="connsiteY5" fmla="*/ 504825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15175" h="6858000">
                <a:moveTo>
                  <a:pt x="0" y="5048250"/>
                </a:moveTo>
                <a:lnTo>
                  <a:pt x="5705475" y="0"/>
                </a:lnTo>
                <a:lnTo>
                  <a:pt x="7115175" y="0"/>
                </a:lnTo>
                <a:lnTo>
                  <a:pt x="7115175" y="6858000"/>
                </a:lnTo>
                <a:lnTo>
                  <a:pt x="1533526" y="6848475"/>
                </a:lnTo>
                <a:lnTo>
                  <a:pt x="0" y="5048250"/>
                </a:lnTo>
                <a:close/>
              </a:path>
            </a:pathLst>
          </a:custGeom>
          <a:solidFill>
            <a:schemeClr val="accent3">
              <a:alpha val="80000"/>
            </a:schemeClr>
          </a:solidFill>
        </p:spPr>
        <p:txBody>
          <a:bodyPr rIns="182880" anchor="ctr"/>
          <a:lstStyle>
            <a:lvl1pPr algn="r">
              <a:defRPr/>
            </a:lvl1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9" name="Right Triangle 8"/>
          <p:cNvSpPr/>
          <p:nvPr/>
        </p:nvSpPr>
        <p:spPr>
          <a:xfrm>
            <a:off x="0" y="2647950"/>
            <a:ext cx="3571875" cy="421005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0" y="5048250"/>
            <a:ext cx="3571875" cy="1809750"/>
          </a:xfrm>
          <a:custGeom>
            <a:avLst/>
            <a:gdLst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3571875 w 3571875"/>
              <a:gd name="connsiteY2" fmla="*/ 4210050 h 4210050"/>
              <a:gd name="connsiteX3" fmla="*/ 0 w 3571875"/>
              <a:gd name="connsiteY3" fmla="*/ 4210050 h 4210050"/>
              <a:gd name="connsiteX0" fmla="*/ 0 w 3571875"/>
              <a:gd name="connsiteY0" fmla="*/ 1809750 h 1809750"/>
              <a:gd name="connsiteX1" fmla="*/ 1895475 w 3571875"/>
              <a:gd name="connsiteY1" fmla="*/ 0 h 1809750"/>
              <a:gd name="connsiteX2" fmla="*/ 3571875 w 3571875"/>
              <a:gd name="connsiteY2" fmla="*/ 1809750 h 1809750"/>
              <a:gd name="connsiteX3" fmla="*/ 0 w 3571875"/>
              <a:gd name="connsiteY3" fmla="*/ 1809750 h 1809750"/>
              <a:gd name="connsiteX0" fmla="*/ 0 w 3571875"/>
              <a:gd name="connsiteY0" fmla="*/ 1809750 h 1809750"/>
              <a:gd name="connsiteX1" fmla="*/ 2038350 w 3571875"/>
              <a:gd name="connsiteY1" fmla="*/ 0 h 1809750"/>
              <a:gd name="connsiteX2" fmla="*/ 3571875 w 3571875"/>
              <a:gd name="connsiteY2" fmla="*/ 1809750 h 1809750"/>
              <a:gd name="connsiteX3" fmla="*/ 0 w 3571875"/>
              <a:gd name="connsiteY3" fmla="*/ 1809750 h 1809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71875" h="1809750">
                <a:moveTo>
                  <a:pt x="0" y="1809750"/>
                </a:moveTo>
                <a:lnTo>
                  <a:pt x="2038350" y="0"/>
                </a:lnTo>
                <a:lnTo>
                  <a:pt x="3571875" y="1809750"/>
                </a:lnTo>
                <a:lnTo>
                  <a:pt x="0" y="1809750"/>
                </a:lnTo>
                <a:close/>
              </a:path>
            </a:pathLst>
          </a:cu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19140000">
            <a:off x="671197" y="1717501"/>
            <a:ext cx="5486400" cy="867444"/>
          </a:xfrm>
        </p:spPr>
        <p:txBody>
          <a:bodyPr anchor="b"/>
          <a:lstStyle>
            <a:lvl1pPr algn="l">
              <a:defRPr sz="2800" b="0">
                <a:latin typeface="+mj-lt"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 rot="19140000">
            <a:off x="1143479" y="2180529"/>
            <a:ext cx="6096545" cy="740664"/>
          </a:xfrm>
        </p:spPr>
        <p:txBody>
          <a:bodyPr/>
          <a:lstStyle>
            <a:lvl1pPr marL="0" indent="0"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3DB7C-BE96-4327-9DBC-7B6F740E6E7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4BC5-B405-4818-A171-04D7956F586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3DB7C-BE96-4327-9DBC-7B6F740E6E7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4BC5-B405-4818-A171-04D7956F586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467836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467836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3DB7C-BE96-4327-9DBC-7B6F740E6E7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4BC5-B405-4818-A171-04D7956F586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>
          <a:xfrm>
            <a:off x="-2382" y="5050633"/>
            <a:ext cx="3574257" cy="1807368"/>
          </a:xfrm>
          <a:custGeom>
            <a:avLst/>
            <a:gdLst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3571875 w 3571875"/>
              <a:gd name="connsiteY2" fmla="*/ 4210050 h 4210050"/>
              <a:gd name="connsiteX3" fmla="*/ 0 w 3571875"/>
              <a:gd name="connsiteY3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88394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205038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93157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93157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281238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93157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93157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76450 w 3571875"/>
              <a:gd name="connsiteY2" fmla="*/ 2274094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245519 w 3571875"/>
              <a:gd name="connsiteY2" fmla="*/ 2405063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38350 w 3571875"/>
              <a:gd name="connsiteY2" fmla="*/ 2405063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2433637 h 2433637"/>
              <a:gd name="connsiteX1" fmla="*/ 257175 w 3571875"/>
              <a:gd name="connsiteY1" fmla="*/ 0 h 2433637"/>
              <a:gd name="connsiteX2" fmla="*/ 2038350 w 3571875"/>
              <a:gd name="connsiteY2" fmla="*/ 628650 h 2433637"/>
              <a:gd name="connsiteX3" fmla="*/ 3571875 w 3571875"/>
              <a:gd name="connsiteY3" fmla="*/ 2433637 h 2433637"/>
              <a:gd name="connsiteX4" fmla="*/ 0 w 3571875"/>
              <a:gd name="connsiteY4" fmla="*/ 2433637 h 2433637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2040732 w 3574257"/>
              <a:gd name="connsiteY2" fmla="*/ 2381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924051 w 3574257"/>
              <a:gd name="connsiteY2" fmla="*/ 307181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9749 h 1809749"/>
              <a:gd name="connsiteX1" fmla="*/ 0 w 3574257"/>
              <a:gd name="connsiteY1" fmla="*/ 2381 h 1809749"/>
              <a:gd name="connsiteX2" fmla="*/ 2038351 w 3574257"/>
              <a:gd name="connsiteY2" fmla="*/ 0 h 1809749"/>
              <a:gd name="connsiteX3" fmla="*/ 3574257 w 3574257"/>
              <a:gd name="connsiteY3" fmla="*/ 1809749 h 1809749"/>
              <a:gd name="connsiteX4" fmla="*/ 2382 w 3574257"/>
              <a:gd name="connsiteY4" fmla="*/ 1809749 h 1809749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640682 w 3574257"/>
              <a:gd name="connsiteY2" fmla="*/ 450057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9749 h 1809749"/>
              <a:gd name="connsiteX1" fmla="*/ 0 w 3574257"/>
              <a:gd name="connsiteY1" fmla="*/ 2381 h 1809749"/>
              <a:gd name="connsiteX2" fmla="*/ 2038351 w 3574257"/>
              <a:gd name="connsiteY2" fmla="*/ 0 h 1809749"/>
              <a:gd name="connsiteX3" fmla="*/ 3574257 w 3574257"/>
              <a:gd name="connsiteY3" fmla="*/ 1809749 h 1809749"/>
              <a:gd name="connsiteX4" fmla="*/ 2382 w 3574257"/>
              <a:gd name="connsiteY4" fmla="*/ 1809749 h 1809749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657351 w 3574257"/>
              <a:gd name="connsiteY2" fmla="*/ 230982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2040732 w 3574257"/>
              <a:gd name="connsiteY2" fmla="*/ 2382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774032 w 3574257"/>
              <a:gd name="connsiteY2" fmla="*/ 161925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969294 w 3574257"/>
              <a:gd name="connsiteY2" fmla="*/ 21432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819275 w 3574257"/>
              <a:gd name="connsiteY2" fmla="*/ 200026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2045494 w 3574257"/>
              <a:gd name="connsiteY2" fmla="*/ 1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4257" h="1807368">
                <a:moveTo>
                  <a:pt x="2382" y="1807368"/>
                </a:moveTo>
                <a:lnTo>
                  <a:pt x="0" y="0"/>
                </a:lnTo>
                <a:lnTo>
                  <a:pt x="2045494" y="1"/>
                </a:lnTo>
                <a:lnTo>
                  <a:pt x="3574257" y="1807368"/>
                </a:lnTo>
                <a:lnTo>
                  <a:pt x="2382" y="1807368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-2380" y="5051292"/>
            <a:ext cx="9146380" cy="1806709"/>
          </a:xfrm>
          <a:custGeom>
            <a:avLst/>
            <a:gdLst>
              <a:gd name="connsiteX0" fmla="*/ 0 w 3350419"/>
              <a:gd name="connsiteY0" fmla="*/ 2081213 h 2083594"/>
              <a:gd name="connsiteX1" fmla="*/ 3031331 w 3350419"/>
              <a:gd name="connsiteY1" fmla="*/ 0 h 2083594"/>
              <a:gd name="connsiteX2" fmla="*/ 3350419 w 3350419"/>
              <a:gd name="connsiteY2" fmla="*/ 80963 h 2083594"/>
              <a:gd name="connsiteX3" fmla="*/ 3350419 w 3350419"/>
              <a:gd name="connsiteY3" fmla="*/ 2083594 h 2083594"/>
              <a:gd name="connsiteX4" fmla="*/ 0 w 3350419"/>
              <a:gd name="connsiteY4" fmla="*/ 2081213 h 2083594"/>
              <a:gd name="connsiteX0" fmla="*/ 0 w 3112294"/>
              <a:gd name="connsiteY0" fmla="*/ 2019301 h 2083594"/>
              <a:gd name="connsiteX1" fmla="*/ 2793206 w 3112294"/>
              <a:gd name="connsiteY1" fmla="*/ 0 h 2083594"/>
              <a:gd name="connsiteX2" fmla="*/ 3112294 w 3112294"/>
              <a:gd name="connsiteY2" fmla="*/ 80963 h 2083594"/>
              <a:gd name="connsiteX3" fmla="*/ 3112294 w 3112294"/>
              <a:gd name="connsiteY3" fmla="*/ 2083594 h 2083594"/>
              <a:gd name="connsiteX4" fmla="*/ 0 w 3112294"/>
              <a:gd name="connsiteY4" fmla="*/ 2019301 h 2083594"/>
              <a:gd name="connsiteX0" fmla="*/ 0 w 3345656"/>
              <a:gd name="connsiteY0" fmla="*/ 2097882 h 2097882"/>
              <a:gd name="connsiteX1" fmla="*/ 3026568 w 3345656"/>
              <a:gd name="connsiteY1" fmla="*/ 0 h 2097882"/>
              <a:gd name="connsiteX2" fmla="*/ 3345656 w 3345656"/>
              <a:gd name="connsiteY2" fmla="*/ 80963 h 2097882"/>
              <a:gd name="connsiteX3" fmla="*/ 3345656 w 3345656"/>
              <a:gd name="connsiteY3" fmla="*/ 2083594 h 2097882"/>
              <a:gd name="connsiteX4" fmla="*/ 0 w 3345656"/>
              <a:gd name="connsiteY4" fmla="*/ 2097882 h 2097882"/>
              <a:gd name="connsiteX0" fmla="*/ 0 w 2800350"/>
              <a:gd name="connsiteY0" fmla="*/ 1935957 h 2083594"/>
              <a:gd name="connsiteX1" fmla="*/ 2481262 w 2800350"/>
              <a:gd name="connsiteY1" fmla="*/ 0 h 2083594"/>
              <a:gd name="connsiteX2" fmla="*/ 2800350 w 2800350"/>
              <a:gd name="connsiteY2" fmla="*/ 80963 h 2083594"/>
              <a:gd name="connsiteX3" fmla="*/ 2800350 w 2800350"/>
              <a:gd name="connsiteY3" fmla="*/ 2083594 h 2083594"/>
              <a:gd name="connsiteX4" fmla="*/ 0 w 2800350"/>
              <a:gd name="connsiteY4" fmla="*/ 1935957 h 2083594"/>
              <a:gd name="connsiteX0" fmla="*/ 0 w 3352800"/>
              <a:gd name="connsiteY0" fmla="*/ 2083594 h 2083594"/>
              <a:gd name="connsiteX1" fmla="*/ 3033712 w 3352800"/>
              <a:gd name="connsiteY1" fmla="*/ 0 h 2083594"/>
              <a:gd name="connsiteX2" fmla="*/ 3352800 w 3352800"/>
              <a:gd name="connsiteY2" fmla="*/ 80963 h 2083594"/>
              <a:gd name="connsiteX3" fmla="*/ 3352800 w 3352800"/>
              <a:gd name="connsiteY3" fmla="*/ 2083594 h 2083594"/>
              <a:gd name="connsiteX4" fmla="*/ 0 w 3352800"/>
              <a:gd name="connsiteY4" fmla="*/ 2083594 h 2083594"/>
              <a:gd name="connsiteX0" fmla="*/ 0 w 3352800"/>
              <a:gd name="connsiteY0" fmla="*/ 2002631 h 2002631"/>
              <a:gd name="connsiteX1" fmla="*/ 3033712 w 3352800"/>
              <a:gd name="connsiteY1" fmla="*/ 15716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988469 w 3352800"/>
              <a:gd name="connsiteY1" fmla="*/ 59530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3966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45314 w 3352800"/>
              <a:gd name="connsiteY1" fmla="*/ 12246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4839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75865 w 3352800"/>
              <a:gd name="connsiteY1" fmla="*/ 8178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901 h 2002901"/>
              <a:gd name="connsiteX1" fmla="*/ 2836585 w 3352800"/>
              <a:gd name="connsiteY1" fmla="*/ 0 h 2002901"/>
              <a:gd name="connsiteX2" fmla="*/ 3352800 w 3352800"/>
              <a:gd name="connsiteY2" fmla="*/ 270 h 2002901"/>
              <a:gd name="connsiteX3" fmla="*/ 3352800 w 3352800"/>
              <a:gd name="connsiteY3" fmla="*/ 2002901 h 2002901"/>
              <a:gd name="connsiteX4" fmla="*/ 0 w 3352800"/>
              <a:gd name="connsiteY4" fmla="*/ 2002901 h 2002901"/>
              <a:gd name="connsiteX0" fmla="*/ 0 w 3352800"/>
              <a:gd name="connsiteY0" fmla="*/ 2002631 h 2002631"/>
              <a:gd name="connsiteX1" fmla="*/ 754045 w 3352800"/>
              <a:gd name="connsiteY1" fmla="*/ 1468326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534305 h 534305"/>
              <a:gd name="connsiteX1" fmla="*/ 754045 w 3352800"/>
              <a:gd name="connsiteY1" fmla="*/ 0 h 534305"/>
              <a:gd name="connsiteX2" fmla="*/ 3352800 w 3352800"/>
              <a:gd name="connsiteY2" fmla="*/ 7687 h 534305"/>
              <a:gd name="connsiteX3" fmla="*/ 3352800 w 3352800"/>
              <a:gd name="connsiteY3" fmla="*/ 534305 h 534305"/>
              <a:gd name="connsiteX4" fmla="*/ 0 w 3352800"/>
              <a:gd name="connsiteY4" fmla="*/ 534305 h 534305"/>
              <a:gd name="connsiteX0" fmla="*/ 0 w 3352800"/>
              <a:gd name="connsiteY0" fmla="*/ 534305 h 534305"/>
              <a:gd name="connsiteX1" fmla="*/ 754045 w 3352800"/>
              <a:gd name="connsiteY1" fmla="*/ 0 h 534305"/>
              <a:gd name="connsiteX2" fmla="*/ 3352800 w 3352800"/>
              <a:gd name="connsiteY2" fmla="*/ 7687 h 534305"/>
              <a:gd name="connsiteX3" fmla="*/ 3352800 w 3352800"/>
              <a:gd name="connsiteY3" fmla="*/ 534305 h 534305"/>
              <a:gd name="connsiteX4" fmla="*/ 0 w 3352800"/>
              <a:gd name="connsiteY4" fmla="*/ 534305 h 534305"/>
              <a:gd name="connsiteX0" fmla="*/ 0 w 3352800"/>
              <a:gd name="connsiteY0" fmla="*/ 526618 h 526618"/>
              <a:gd name="connsiteX1" fmla="*/ 980611 w 3352800"/>
              <a:gd name="connsiteY1" fmla="*/ 93681 h 526618"/>
              <a:gd name="connsiteX2" fmla="*/ 3352800 w 3352800"/>
              <a:gd name="connsiteY2" fmla="*/ 0 h 526618"/>
              <a:gd name="connsiteX3" fmla="*/ 3352800 w 3352800"/>
              <a:gd name="connsiteY3" fmla="*/ 526618 h 526618"/>
              <a:gd name="connsiteX4" fmla="*/ 0 w 3352800"/>
              <a:gd name="connsiteY4" fmla="*/ 526618 h 526618"/>
              <a:gd name="connsiteX0" fmla="*/ 0 w 3352800"/>
              <a:gd name="connsiteY0" fmla="*/ 526888 h 526888"/>
              <a:gd name="connsiteX1" fmla="*/ 744735 w 3352800"/>
              <a:gd name="connsiteY1" fmla="*/ 0 h 526888"/>
              <a:gd name="connsiteX2" fmla="*/ 3352800 w 3352800"/>
              <a:gd name="connsiteY2" fmla="*/ 270 h 526888"/>
              <a:gd name="connsiteX3" fmla="*/ 3352800 w 3352800"/>
              <a:gd name="connsiteY3" fmla="*/ 526888 h 526888"/>
              <a:gd name="connsiteX4" fmla="*/ 0 w 3352800"/>
              <a:gd name="connsiteY4" fmla="*/ 526888 h 526888"/>
              <a:gd name="connsiteX0" fmla="*/ 0 w 3352800"/>
              <a:gd name="connsiteY0" fmla="*/ 526618 h 526618"/>
              <a:gd name="connsiteX1" fmla="*/ 811948 w 3352800"/>
              <a:gd name="connsiteY1" fmla="*/ 60921 h 526618"/>
              <a:gd name="connsiteX2" fmla="*/ 3352800 w 3352800"/>
              <a:gd name="connsiteY2" fmla="*/ 0 h 526618"/>
              <a:gd name="connsiteX3" fmla="*/ 3352800 w 3352800"/>
              <a:gd name="connsiteY3" fmla="*/ 526618 h 526618"/>
              <a:gd name="connsiteX4" fmla="*/ 0 w 3352800"/>
              <a:gd name="connsiteY4" fmla="*/ 526618 h 526618"/>
              <a:gd name="connsiteX0" fmla="*/ 0 w 3352800"/>
              <a:gd name="connsiteY0" fmla="*/ 527584 h 527584"/>
              <a:gd name="connsiteX1" fmla="*/ 751718 w 3352800"/>
              <a:gd name="connsiteY1" fmla="*/ 0 h 527584"/>
              <a:gd name="connsiteX2" fmla="*/ 3352800 w 3352800"/>
              <a:gd name="connsiteY2" fmla="*/ 966 h 527584"/>
              <a:gd name="connsiteX3" fmla="*/ 3352800 w 3352800"/>
              <a:gd name="connsiteY3" fmla="*/ 527584 h 527584"/>
              <a:gd name="connsiteX4" fmla="*/ 0 w 3352800"/>
              <a:gd name="connsiteY4" fmla="*/ 527584 h 527584"/>
              <a:gd name="connsiteX0" fmla="*/ 0 w 3352800"/>
              <a:gd name="connsiteY0" fmla="*/ 527584 h 527584"/>
              <a:gd name="connsiteX1" fmla="*/ 751718 w 3352800"/>
              <a:gd name="connsiteY1" fmla="*/ 0 h 527584"/>
              <a:gd name="connsiteX2" fmla="*/ 3241069 w 3352800"/>
              <a:gd name="connsiteY2" fmla="*/ 94144 h 527584"/>
              <a:gd name="connsiteX3" fmla="*/ 3352800 w 3352800"/>
              <a:gd name="connsiteY3" fmla="*/ 527584 h 527584"/>
              <a:gd name="connsiteX4" fmla="*/ 0 w 3352800"/>
              <a:gd name="connsiteY4" fmla="*/ 527584 h 527584"/>
              <a:gd name="connsiteX0" fmla="*/ 0 w 3352800"/>
              <a:gd name="connsiteY0" fmla="*/ 527584 h 527584"/>
              <a:gd name="connsiteX1" fmla="*/ 751718 w 3352800"/>
              <a:gd name="connsiteY1" fmla="*/ 0 h 527584"/>
              <a:gd name="connsiteX2" fmla="*/ 3352800 w 3352800"/>
              <a:gd name="connsiteY2" fmla="*/ 271 h 527584"/>
              <a:gd name="connsiteX3" fmla="*/ 3352800 w 3352800"/>
              <a:gd name="connsiteY3" fmla="*/ 527584 h 527584"/>
              <a:gd name="connsiteX4" fmla="*/ 0 w 3352800"/>
              <a:gd name="connsiteY4" fmla="*/ 527584 h 527584"/>
              <a:gd name="connsiteX0" fmla="*/ 0 w 3352800"/>
              <a:gd name="connsiteY0" fmla="*/ 527313 h 527313"/>
              <a:gd name="connsiteX1" fmla="*/ 900984 w 3352800"/>
              <a:gd name="connsiteY1" fmla="*/ 97774 h 527313"/>
              <a:gd name="connsiteX2" fmla="*/ 3352800 w 3352800"/>
              <a:gd name="connsiteY2" fmla="*/ 0 h 527313"/>
              <a:gd name="connsiteX3" fmla="*/ 3352800 w 3352800"/>
              <a:gd name="connsiteY3" fmla="*/ 527313 h 527313"/>
              <a:gd name="connsiteX4" fmla="*/ 0 w 3352800"/>
              <a:gd name="connsiteY4" fmla="*/ 527313 h 527313"/>
              <a:gd name="connsiteX0" fmla="*/ 0 w 3352800"/>
              <a:gd name="connsiteY0" fmla="*/ 527584 h 527584"/>
              <a:gd name="connsiteX1" fmla="*/ 748227 w 3352800"/>
              <a:gd name="connsiteY1" fmla="*/ 0 h 527584"/>
              <a:gd name="connsiteX2" fmla="*/ 3352800 w 3352800"/>
              <a:gd name="connsiteY2" fmla="*/ 271 h 527584"/>
              <a:gd name="connsiteX3" fmla="*/ 3352800 w 3352800"/>
              <a:gd name="connsiteY3" fmla="*/ 527584 h 527584"/>
              <a:gd name="connsiteX4" fmla="*/ 0 w 3352800"/>
              <a:gd name="connsiteY4" fmla="*/ 527584 h 527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52800" h="527584">
                <a:moveTo>
                  <a:pt x="0" y="527584"/>
                </a:moveTo>
                <a:lnTo>
                  <a:pt x="748227" y="0"/>
                </a:lnTo>
                <a:lnTo>
                  <a:pt x="3352800" y="271"/>
                </a:lnTo>
                <a:lnTo>
                  <a:pt x="3352800" y="527584"/>
                </a:lnTo>
                <a:lnTo>
                  <a:pt x="0" y="527584"/>
                </a:lnTo>
                <a:close/>
              </a:path>
            </a:pathLst>
          </a:cu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365760"/>
            <a:ext cx="7520940" cy="5486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100628"/>
            <a:ext cx="7520940" cy="35798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9140000">
            <a:off x="201168" y="5870448"/>
            <a:ext cx="2176272" cy="2011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fld id="{9A93DB7C-BE96-4327-9DBC-7B6F740E6E7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17514" y="6285122"/>
            <a:ext cx="47244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spc="200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01038" y="6170822"/>
            <a:ext cx="502920" cy="502920"/>
          </a:xfrm>
          <a:prstGeom prst="ellipse">
            <a:avLst/>
          </a:prstGeom>
          <a:ln w="19050">
            <a:solidFill>
              <a:srgbClr val="FFFFFF"/>
            </a:solidFill>
          </a:ln>
        </p:spPr>
        <p:txBody>
          <a:bodyPr vert="horz" lIns="9144" tIns="9144" rIns="9144" bIns="9144" rtlCol="0" anchor="ctr">
            <a:normAutofit/>
          </a:bodyPr>
          <a:lstStyle>
            <a:lvl1pPr algn="ctr">
              <a:defRPr sz="1650">
                <a:solidFill>
                  <a:srgbClr val="FFFFFF"/>
                </a:solidFill>
              </a:defRPr>
            </a:lvl1pPr>
          </a:lstStyle>
          <a:p>
            <a:fld id="{E6384BC5-B405-4818-A171-04D7956F5865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28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ts val="800"/>
        </a:spcBef>
        <a:buFont typeface="Arial" pitchFamily="34" charset="0"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173736" indent="-173736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02336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30936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859536" indent="-173736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" indent="-173736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353312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581912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792224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TWITTER SENTIMENT ANALYSIS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smtClean="0"/>
              <a:t>Classifying Tweets as Positive or Negative Using Machine Learning [Your Name] [Course: Data Mining] [Date]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27448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PRESENTATION OUTLINE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1. Project Overview &amp; Objectives </a:t>
            </a:r>
          </a:p>
          <a:p>
            <a:r>
              <a:rPr lang="en-US" dirty="0" smtClean="0"/>
              <a:t>2. Dataset Description </a:t>
            </a:r>
          </a:p>
          <a:p>
            <a:r>
              <a:rPr lang="en-US" dirty="0" smtClean="0"/>
              <a:t>3. Data Analysis &amp; Descriptive Statistics </a:t>
            </a:r>
          </a:p>
          <a:p>
            <a:r>
              <a:rPr lang="en-US" dirty="0" smtClean="0"/>
              <a:t>4. Data Preprocessing </a:t>
            </a:r>
          </a:p>
          <a:p>
            <a:r>
              <a:rPr lang="en-US" dirty="0" smtClean="0"/>
              <a:t>5. Feature Engineering </a:t>
            </a:r>
          </a:p>
          <a:p>
            <a:r>
              <a:rPr lang="en-US" dirty="0" smtClean="0"/>
              <a:t>6. Model Development </a:t>
            </a:r>
          </a:p>
          <a:p>
            <a:r>
              <a:rPr lang="en-US" dirty="0" smtClean="0"/>
              <a:t>7. Experimental Results </a:t>
            </a:r>
          </a:p>
          <a:p>
            <a:r>
              <a:rPr lang="en-US" dirty="0" smtClean="0"/>
              <a:t>8. Model Comparison </a:t>
            </a:r>
          </a:p>
          <a:p>
            <a:r>
              <a:rPr lang="en-US" dirty="0" smtClean="0"/>
              <a:t>9. Conclusion &amp; Future Work </a:t>
            </a:r>
          </a:p>
          <a:p>
            <a:r>
              <a:rPr lang="en-US" dirty="0" smtClean="0"/>
              <a:t>10. Demo / Testing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7918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OVERVIEW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Objective: Build a machine learning model to automatically classify tweets as</a:t>
            </a:r>
          </a:p>
          <a:p>
            <a:r>
              <a:rPr lang="en-US" dirty="0"/>
              <a:t>	</a:t>
            </a:r>
            <a:r>
              <a:rPr lang="en-US" dirty="0" smtClean="0"/>
              <a:t>		POSITIVE or NEGATIVE sentiment. </a:t>
            </a:r>
          </a:p>
          <a:p>
            <a:r>
              <a:rPr lang="en-US" dirty="0" smtClean="0"/>
              <a:t>Why It Matters: </a:t>
            </a:r>
          </a:p>
          <a:p>
            <a:pPr marL="0" indent="0">
              <a:buNone/>
            </a:pPr>
            <a:r>
              <a:rPr lang="en-US" dirty="0" smtClean="0"/>
              <a:t>• Brand monitoring and reputation management</a:t>
            </a:r>
          </a:p>
          <a:p>
            <a:pPr marL="0" indent="0">
              <a:buNone/>
            </a:pPr>
            <a:r>
              <a:rPr lang="en-US" dirty="0" smtClean="0"/>
              <a:t>• Customer feedback analysis </a:t>
            </a:r>
          </a:p>
          <a:p>
            <a:pPr marL="0" indent="0">
              <a:buNone/>
            </a:pPr>
            <a:r>
              <a:rPr lang="en-US" dirty="0" smtClean="0"/>
              <a:t>• Political opinion mining </a:t>
            </a:r>
          </a:p>
          <a:p>
            <a:pPr marL="0" indent="0">
              <a:buNone/>
            </a:pPr>
            <a:r>
              <a:rPr lang="en-US" dirty="0" smtClean="0"/>
              <a:t>• Stock market prediction using public sentiment </a:t>
            </a:r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Approach: </a:t>
            </a:r>
          </a:p>
          <a:p>
            <a:pPr marL="0" indent="0">
              <a:buNone/>
            </a:pPr>
            <a:r>
              <a:rPr lang="en-US" dirty="0" smtClean="0"/>
              <a:t>Supervised binary classification using labeled Twitter data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087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DATASET: SENTIMENT140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smtClean="0"/>
              <a:t>Source: </a:t>
            </a:r>
            <a:r>
              <a:rPr lang="en-US" dirty="0" err="1" smtClean="0"/>
              <a:t>Kaggle</a:t>
            </a:r>
            <a:r>
              <a:rPr lang="en-US" dirty="0" smtClean="0"/>
              <a:t> / Stanford University </a:t>
            </a:r>
          </a:p>
          <a:p>
            <a:r>
              <a:rPr lang="en-US" dirty="0" smtClean="0"/>
              <a:t>Citation: Go, A., </a:t>
            </a:r>
            <a:r>
              <a:rPr lang="en-US" dirty="0" err="1" smtClean="0"/>
              <a:t>Bhayani</a:t>
            </a:r>
            <a:r>
              <a:rPr lang="en-US" dirty="0" smtClean="0"/>
              <a:t>, R., &amp; Huang, L. (2009) Dataset Statistics: </a:t>
            </a:r>
          </a:p>
          <a:p>
            <a:r>
              <a:rPr lang="en-US" dirty="0" smtClean="0"/>
              <a:t>Total Tweets │ 1,600,000 │  </a:t>
            </a:r>
          </a:p>
          <a:p>
            <a:r>
              <a:rPr lang="en-US" dirty="0" smtClean="0"/>
              <a:t>Negative (0) │ 800,000 (50%) │  </a:t>
            </a:r>
          </a:p>
          <a:p>
            <a:r>
              <a:rPr lang="en-US" dirty="0" smtClean="0"/>
              <a:t>Positive (4) │ 800,000 (50%) │  </a:t>
            </a:r>
          </a:p>
          <a:p>
            <a:r>
              <a:rPr lang="en-US" dirty="0" smtClean="0"/>
              <a:t>Missing Values │ None │</a:t>
            </a:r>
          </a:p>
          <a:p>
            <a:endParaRPr lang="en-US" dirty="0" smtClean="0"/>
          </a:p>
          <a:p>
            <a:r>
              <a:rPr lang="en-US" dirty="0" smtClean="0"/>
              <a:t>Columns: </a:t>
            </a:r>
          </a:p>
          <a:p>
            <a:r>
              <a:rPr lang="en-US" dirty="0" smtClean="0"/>
              <a:t>sentiment - 0 = negative, 4 = positive </a:t>
            </a:r>
          </a:p>
          <a:p>
            <a:r>
              <a:rPr lang="en-US" dirty="0" smtClean="0"/>
              <a:t>id - Unique tweet identifier </a:t>
            </a:r>
          </a:p>
          <a:p>
            <a:r>
              <a:rPr lang="en-US" dirty="0" smtClean="0"/>
              <a:t>date - Date and time </a:t>
            </a:r>
          </a:p>
          <a:p>
            <a:r>
              <a:rPr lang="en-US" dirty="0" smtClean="0"/>
              <a:t>user - Username </a:t>
            </a:r>
          </a:p>
          <a:p>
            <a:r>
              <a:rPr lang="en-US" dirty="0" smtClean="0"/>
              <a:t>text - Tweet content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4056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CLASS DISTRIBUTION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Perfectly Balanced Dataset:</a:t>
            </a:r>
          </a:p>
          <a:p>
            <a:r>
              <a:rPr lang="en-US" dirty="0" smtClean="0"/>
              <a:t>Negative (0) 800,000 tweets.</a:t>
            </a:r>
          </a:p>
          <a:p>
            <a:r>
              <a:rPr lang="en-US" dirty="0" smtClean="0"/>
              <a:t>Positive (4) 800,000 tweets </a:t>
            </a:r>
          </a:p>
          <a:p>
            <a:r>
              <a:rPr lang="en-US" dirty="0" smtClean="0"/>
              <a:t>Key Insight: Balanced dataset prevents model bias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0455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TEXT CLEANING PIPELINE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smtClean="0"/>
              <a:t>Original Tweet: </a:t>
            </a:r>
          </a:p>
          <a:p>
            <a:r>
              <a:rPr lang="en-US" dirty="0" smtClean="0"/>
              <a:t>"@user I LOVE this movie! It's amazing 😊 http://t.co/xyz" </a:t>
            </a:r>
          </a:p>
          <a:p>
            <a:r>
              <a:rPr lang="en-US" dirty="0" smtClean="0"/>
              <a:t>After Cleaning: </a:t>
            </a:r>
          </a:p>
          <a:p>
            <a:r>
              <a:rPr lang="en-US" dirty="0" smtClean="0"/>
              <a:t>"love movie amazing" </a:t>
            </a:r>
          </a:p>
          <a:p>
            <a:endParaRPr lang="en-US" dirty="0" smtClean="0"/>
          </a:p>
          <a:p>
            <a:r>
              <a:rPr lang="en-US" dirty="0" smtClean="0"/>
              <a:t>Cleaning Steps Applied:</a:t>
            </a:r>
            <a:endParaRPr lang="en-US" dirty="0"/>
          </a:p>
          <a:p>
            <a:r>
              <a:rPr lang="en-US" dirty="0" smtClean="0"/>
              <a:t>1. Lowercase conversion </a:t>
            </a:r>
          </a:p>
          <a:p>
            <a:r>
              <a:rPr lang="en-US" dirty="0" smtClean="0"/>
              <a:t>2. URL removal (http://, https://)</a:t>
            </a:r>
          </a:p>
          <a:p>
            <a:r>
              <a:rPr lang="en-US" dirty="0" smtClean="0"/>
              <a:t>3. @Mention removal</a:t>
            </a:r>
          </a:p>
          <a:p>
            <a:r>
              <a:rPr lang="en-US" dirty="0" smtClean="0"/>
              <a:t>4. Hashtag symbol removal</a:t>
            </a:r>
          </a:p>
          <a:p>
            <a:r>
              <a:rPr lang="en-US" dirty="0" smtClean="0"/>
              <a:t>5. Punctuation removal</a:t>
            </a:r>
          </a:p>
          <a:p>
            <a:r>
              <a:rPr lang="en-US" dirty="0" smtClean="0"/>
              <a:t>6. Number removal</a:t>
            </a:r>
          </a:p>
          <a:p>
            <a:r>
              <a:rPr lang="en-US" dirty="0" smtClean="0"/>
              <a:t>7. </a:t>
            </a:r>
            <a:r>
              <a:rPr lang="en-US" dirty="0" err="1" smtClean="0"/>
              <a:t>Stopword</a:t>
            </a:r>
            <a:r>
              <a:rPr lang="en-US" dirty="0" smtClean="0"/>
              <a:t> removal (the, and, is)</a:t>
            </a:r>
          </a:p>
          <a:p>
            <a:r>
              <a:rPr lang="en-US" dirty="0" smtClean="0"/>
              <a:t>8. Stemming (loving → love)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4284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Feature Engineering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Term Frequency - Inverse Document Frequency </a:t>
            </a:r>
          </a:p>
          <a:p>
            <a:r>
              <a:rPr lang="en-US" dirty="0" smtClean="0"/>
              <a:t>TF-IDF(</a:t>
            </a:r>
            <a:r>
              <a:rPr lang="en-US" dirty="0" err="1" smtClean="0"/>
              <a:t>t,d</a:t>
            </a:r>
            <a:r>
              <a:rPr lang="en-US" dirty="0" smtClean="0"/>
              <a:t>) = TF(</a:t>
            </a:r>
            <a:r>
              <a:rPr lang="en-US" dirty="0" err="1" smtClean="0"/>
              <a:t>t,d</a:t>
            </a:r>
            <a:r>
              <a:rPr lang="en-US" dirty="0" smtClean="0"/>
              <a:t>) × log(N / DF(t)) </a:t>
            </a:r>
          </a:p>
          <a:p>
            <a:r>
              <a:rPr lang="en-US" dirty="0" smtClean="0"/>
              <a:t>Where: </a:t>
            </a:r>
          </a:p>
          <a:p>
            <a:r>
              <a:rPr lang="en-US" dirty="0" smtClean="0"/>
              <a:t>• TF(</a:t>
            </a:r>
            <a:r>
              <a:rPr lang="en-US" dirty="0" err="1" smtClean="0"/>
              <a:t>t,d</a:t>
            </a:r>
            <a:r>
              <a:rPr lang="en-US" dirty="0" smtClean="0"/>
              <a:t>) = Frequency of term t in document d</a:t>
            </a:r>
          </a:p>
          <a:p>
            <a:r>
              <a:rPr lang="en-US" dirty="0" smtClean="0"/>
              <a:t>• DF(t) = Number of documents containing term t </a:t>
            </a:r>
          </a:p>
          <a:p>
            <a:r>
              <a:rPr lang="en-US" dirty="0" smtClean="0"/>
              <a:t>• N = Total number of documents</a:t>
            </a:r>
          </a:p>
          <a:p>
            <a:pPr marL="0" indent="0">
              <a:buNone/>
            </a:pPr>
            <a:r>
              <a:rPr lang="en-US" dirty="0" smtClean="0"/>
              <a:t>Result: 5,000 features (TF-IDF) + 3,000 character features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8326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Models Tested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8 Different Models Were Implemented:</a:t>
            </a:r>
          </a:p>
          <a:p>
            <a:r>
              <a:rPr lang="en-US" dirty="0" smtClean="0"/>
              <a:t>1. Logistic Regression (Baseline) </a:t>
            </a:r>
          </a:p>
          <a:p>
            <a:r>
              <a:rPr lang="en-US" dirty="0" smtClean="0"/>
              <a:t>2. Multinomial Naive Bayes </a:t>
            </a:r>
          </a:p>
          <a:p>
            <a:r>
              <a:rPr lang="en-US" dirty="0" smtClean="0"/>
              <a:t>3. Random Forest (200 estimators) </a:t>
            </a:r>
          </a:p>
          <a:p>
            <a:r>
              <a:rPr lang="en-US" dirty="0" smtClean="0"/>
              <a:t>4. Gradient Boosting </a:t>
            </a:r>
          </a:p>
          <a:p>
            <a:r>
              <a:rPr lang="en-US" dirty="0" smtClean="0"/>
              <a:t>5. Linear SVM </a:t>
            </a:r>
          </a:p>
          <a:p>
            <a:r>
              <a:rPr lang="en-US" dirty="0" smtClean="0"/>
              <a:t>6. Logistic Regression (Char features) </a:t>
            </a:r>
          </a:p>
          <a:p>
            <a:r>
              <a:rPr lang="en-US" dirty="0" smtClean="0"/>
              <a:t>7. Logistic Regression (Combined) </a:t>
            </a:r>
          </a:p>
          <a:p>
            <a:r>
              <a:rPr lang="en-US" dirty="0" smtClean="0"/>
              <a:t>8. Ensemble Voting Classifier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749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Model Performance Results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MODEL ACCURACY COMPARISON</a:t>
            </a:r>
          </a:p>
          <a:p>
            <a:r>
              <a:rPr lang="en-US" dirty="0" smtClean="0"/>
              <a:t>1. Training Logistic Regression... Accuracy: 0.7569</a:t>
            </a:r>
          </a:p>
          <a:p>
            <a:r>
              <a:rPr lang="en-US" dirty="0" smtClean="0"/>
              <a:t>2. Training Naive Bayes... Accuracy: 0.7417 </a:t>
            </a:r>
          </a:p>
          <a:p>
            <a:r>
              <a:rPr lang="en-US" dirty="0" smtClean="0"/>
              <a:t>3.Training Random Forest... Accuracy: 0.7263 </a:t>
            </a:r>
          </a:p>
          <a:p>
            <a:r>
              <a:rPr lang="en-US" dirty="0" smtClean="0"/>
              <a:t>4. Training Gradient Boosting... Accuracy: 0.7069</a:t>
            </a:r>
          </a:p>
          <a:p>
            <a:r>
              <a:rPr lang="en-US" dirty="0" smtClean="0"/>
              <a:t>5. Training Linear SVM... Accuracy: 0.7523 </a:t>
            </a:r>
          </a:p>
          <a:p>
            <a:r>
              <a:rPr lang="en-US" dirty="0" smtClean="0"/>
              <a:t>6. Training Logistic Regression (Character features)... Accuracy: 0.7344 </a:t>
            </a:r>
          </a:p>
          <a:p>
            <a:r>
              <a:rPr lang="en-US" dirty="0" smtClean="0"/>
              <a:t>7. Training Logistic Regression (Combined features)... Accuracy: 0.7520 </a:t>
            </a:r>
          </a:p>
          <a:p>
            <a:r>
              <a:rPr lang="en-US" dirty="0" smtClean="0"/>
              <a:t>8. Training Ensemble Voting Classifier... Accuracy: 0.7561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3894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Best Model - Confusion Matrix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BEST MODEL: LOGISTIC REGRESSION (TUNED)</a:t>
            </a:r>
          </a:p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1524000"/>
            <a:ext cx="3764404" cy="35408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3970627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ROC CURVES - MODEL COMPARISON</a:t>
            </a:r>
            <a:endParaRPr lang="en-US" dirty="0"/>
          </a:p>
        </p:txBody>
      </p:sp>
      <p:pic>
        <p:nvPicPr>
          <p:cNvPr id="2050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286000" y="1524000"/>
            <a:ext cx="4193265" cy="34745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462832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Sample Predictions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Tweet: I absolutely love this! It's the best thing ever made Sentiment: POSITIVE 😊 Confidence: 82.70% Polarity Score: 0.654 (-1=negative, +1=positive)</a:t>
            </a:r>
          </a:p>
          <a:p>
            <a:endParaRPr lang="en-US" dirty="0" smtClean="0"/>
          </a:p>
          <a:p>
            <a:r>
              <a:rPr lang="en-US" dirty="0" smtClean="0"/>
              <a:t>Tweet: This is horrible. I hate everything about it Sentiment: NEGATIVE 😞 Confidence: 98.45% Polarity Score: -0.969 (-1=negative, +1=positive)</a:t>
            </a:r>
          </a:p>
          <a:p>
            <a:endParaRPr lang="en-US" dirty="0" smtClean="0"/>
          </a:p>
          <a:p>
            <a:r>
              <a:rPr lang="en-US" dirty="0" smtClean="0"/>
              <a:t>Tweet: What a wonderful amazing fantastic beautiful day Sentiment: POSITIVE 😊 Confidence: 96.02% Polarity Score: 0.920 (-1=negative, +1=positive)</a:t>
            </a:r>
          </a:p>
          <a:p>
            <a:endParaRPr lang="en-US" dirty="0" smtClean="0"/>
          </a:p>
          <a:p>
            <a:r>
              <a:rPr lang="en-US" dirty="0" smtClean="0"/>
              <a:t>Tweet: I'm so frustrated and angry right now, nothing works Sentiment: NEGATIVE 😞 Confidence: 92.24% Polarity Score: -0.845 (-1=negative, +1=positive)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9638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KEY FINDINGS &amp; INSIGHTS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1. Logistic Regression outperformed all other models </a:t>
            </a:r>
          </a:p>
          <a:p>
            <a:r>
              <a:rPr lang="en-US" dirty="0" smtClean="0"/>
              <a:t>• Simple linear model works best for text classification </a:t>
            </a:r>
          </a:p>
          <a:p>
            <a:r>
              <a:rPr lang="en-US" dirty="0" smtClean="0"/>
              <a:t>• Accuracy: 75.77% | ROC-AUC: 0.834 2. </a:t>
            </a:r>
          </a:p>
          <a:p>
            <a:r>
              <a:rPr lang="en-US" dirty="0" smtClean="0"/>
              <a:t>Emotional words are strongest predictors </a:t>
            </a:r>
          </a:p>
          <a:p>
            <a:r>
              <a:rPr lang="en-US" dirty="0" smtClean="0"/>
              <a:t>• "love", "great", "amazing" → Positive </a:t>
            </a:r>
          </a:p>
          <a:p>
            <a:r>
              <a:rPr lang="en-US" dirty="0" smtClean="0"/>
              <a:t>• "hate", "sad", "terrible" → Negative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41798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CHALLENGES &amp; LIMITATIONS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• Sarcasm detection is difficult </a:t>
            </a:r>
          </a:p>
          <a:p>
            <a:r>
              <a:rPr lang="en-US" dirty="0" smtClean="0"/>
              <a:t>• Context-dependent words ("sick" = cool OR ill) </a:t>
            </a:r>
          </a:p>
          <a:p>
            <a:r>
              <a:rPr lang="en-US" dirty="0" smtClean="0"/>
              <a:t>• </a:t>
            </a:r>
            <a:r>
              <a:rPr lang="en-US" dirty="0" err="1" smtClean="0"/>
              <a:t>Emojis</a:t>
            </a:r>
            <a:r>
              <a:rPr lang="en-US" dirty="0" smtClean="0"/>
              <a:t> are currently removed </a:t>
            </a:r>
          </a:p>
          <a:p>
            <a:r>
              <a:rPr lang="en-US" dirty="0" smtClean="0"/>
              <a:t>• English language only  </a:t>
            </a:r>
          </a:p>
          <a:p>
            <a:r>
              <a:rPr lang="en-US" dirty="0" smtClean="0"/>
              <a:t>• Neutral tweets misclassified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598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Future Improvements: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• Add emoji/emoticon processing </a:t>
            </a:r>
          </a:p>
          <a:p>
            <a:r>
              <a:rPr lang="en-US" dirty="0" smtClean="0"/>
              <a:t>• Implement LSTM/Transformer models</a:t>
            </a:r>
          </a:p>
          <a:p>
            <a:r>
              <a:rPr lang="en-US" dirty="0" smtClean="0"/>
              <a:t>• Multi-lingual support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77661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2057400"/>
            <a:ext cx="7520940" cy="2623077"/>
          </a:xfrm>
        </p:spPr>
        <p:txBody>
          <a:bodyPr>
            <a:normAutofit/>
          </a:bodyPr>
          <a:lstStyle/>
          <a:p>
            <a:pPr algn="ctr"/>
            <a:r>
              <a:rPr lang="en-US" sz="5400" dirty="0"/>
              <a:t>THANK YOU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429481696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ngles">
  <a:themeElements>
    <a:clrScheme name="Angles">
      <a:dk1>
        <a:srgbClr val="000000"/>
      </a:dk1>
      <a:lt1>
        <a:srgbClr val="FFFFFF"/>
      </a:lt1>
      <a:dk2>
        <a:srgbClr val="434342"/>
      </a:dk2>
      <a:lt2>
        <a:srgbClr val="CDD7D9"/>
      </a:lt2>
      <a:accent1>
        <a:srgbClr val="797B7E"/>
      </a:accent1>
      <a:accent2>
        <a:srgbClr val="F96A1B"/>
      </a:accent2>
      <a:accent3>
        <a:srgbClr val="08A1D9"/>
      </a:accent3>
      <a:accent4>
        <a:srgbClr val="7C984A"/>
      </a:accent4>
      <a:accent5>
        <a:srgbClr val="C2AD8D"/>
      </a:accent5>
      <a:accent6>
        <a:srgbClr val="506E94"/>
      </a:accent6>
      <a:hlink>
        <a:srgbClr val="5F5F5F"/>
      </a:hlink>
      <a:folHlink>
        <a:srgbClr val="969696"/>
      </a:folHlink>
    </a:clrScheme>
    <a:fontScheme name="Angles">
      <a:majorFont>
        <a:latin typeface="Franklin Gothic Medium"/>
        <a:ea typeface=""/>
        <a:cs typeface=""/>
        <a:font script="Jpan" typeface="HG創英角ｺﾞｼｯｸUB"/>
        <a:font script="Hang" typeface="돋움"/>
        <a:font script="Hans" typeface="微软雅黑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Jpan" typeface="ＭＳ Ｐゴシック"/>
        <a:font script="Hang" typeface="맑은 고딕"/>
        <a:font script="Hans" typeface="隶书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ngle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20400000"/>
            </a:lightRig>
          </a:scene3d>
          <a:sp3d contourW="6350">
            <a:bevelT w="41275" h="19050" prst="angle"/>
            <a:contourClr>
              <a:schemeClr val="phClr">
                <a:shade val="25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0000"/>
                <a:shade val="85000"/>
              </a:schemeClr>
              <a:schemeClr val="phClr">
                <a:tint val="95000"/>
                <a:shade val="99000"/>
              </a:schemeClr>
            </a:duotone>
          </a:blip>
          <a:tile tx="0" ty="0" sx="100000" sy="100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3000"/>
                <a:shade val="85000"/>
              </a:schemeClr>
              <a:schemeClr val="phClr">
                <a:tint val="96000"/>
                <a:shade val="99000"/>
              </a:schemeClr>
            </a:duotone>
          </a:blip>
          <a:tile tx="0" ty="0" sx="90000" sy="9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Angles</Template>
  <TotalTime>74</TotalTime>
  <Words>732</Words>
  <Application>Microsoft Office PowerPoint</Application>
  <PresentationFormat>On-screen Show (4:3)</PresentationFormat>
  <Paragraphs>115</Paragraphs>
  <Slides>16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Angles</vt:lpstr>
      <vt:lpstr>TWITTER SENTIMENT ANALYSIS</vt:lpstr>
      <vt:lpstr>PRESENTATION OUTLINE</vt:lpstr>
      <vt:lpstr>PROJECT OVERVIEW</vt:lpstr>
      <vt:lpstr>DATASET: SENTIMENT140</vt:lpstr>
      <vt:lpstr>CLASS DISTRIBUTION</vt:lpstr>
      <vt:lpstr>TEXT CLEANING PIPELINE</vt:lpstr>
      <vt:lpstr>Feature Engineering </vt:lpstr>
      <vt:lpstr>Models Tested </vt:lpstr>
      <vt:lpstr>Model Performance Results </vt:lpstr>
      <vt:lpstr>Best Model - Confusion Matrix</vt:lpstr>
      <vt:lpstr>ROC CURVES - MODEL COMPARISON</vt:lpstr>
      <vt:lpstr>Sample Predictions </vt:lpstr>
      <vt:lpstr>KEY FINDINGS &amp; INSIGHTS</vt:lpstr>
      <vt:lpstr>CHALLENGES &amp; LIMITATIONS</vt:lpstr>
      <vt:lpstr>Future Improvements: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TWITTER SENTIMENT ANALYSIS</dc:title>
  <dc:creator>Dell</dc:creator>
  <cp:lastModifiedBy>Dell</cp:lastModifiedBy>
  <cp:revision>4</cp:revision>
  <dcterms:created xsi:type="dcterms:W3CDTF">2026-04-17T09:01:07Z</dcterms:created>
  <dcterms:modified xsi:type="dcterms:W3CDTF">2026-04-17T18:48:21Z</dcterms:modified>
</cp:coreProperties>
</file>